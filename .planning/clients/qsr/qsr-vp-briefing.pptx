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4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3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7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5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4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7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8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3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8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5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6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5C8A"/>
                </a:solidFill>
              </a:defRPr>
            </a:pPr>
            <a:r>
              <a:rPr dirty="0"/>
              <a:t>Ask </a:t>
            </a:r>
            <a:r>
              <a:rPr lang="en-US" dirty="0"/>
              <a:t>"</a:t>
            </a:r>
            <a:r>
              <a:rPr dirty="0"/>
              <a:t>what-if</a:t>
            </a:r>
            <a:r>
              <a:rPr lang="en-US" dirty="0"/>
              <a:t>"</a:t>
            </a:r>
            <a:r>
              <a:rPr dirty="0"/>
              <a:t> of the whole enterprise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55555"/>
                </a:solidFill>
              </a:defRPr>
            </a:pPr>
            <a:r>
              <a:rPr dirty="0"/>
              <a:t>QFS × </a:t>
            </a:r>
            <a:r>
              <a:rPr dirty="0" err="1"/>
              <a:t>WeftOS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 i="1">
                <a:solidFill>
                  <a:srgbClr val="555555"/>
                </a:solidFill>
              </a:defRPr>
            </a:pPr>
            <a:r>
              <a:t>QFS can already answer what happened. WeftOS lets QFS ask what would happen if.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FAA923-9BEF-F848-935F-0CECB57A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05" y="686858"/>
            <a:ext cx="2035360" cy="17807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280"/>
            <a:ext cx="10772775" cy="1003051"/>
          </a:xfrm>
        </p:spPr>
        <p:txBody>
          <a:bodyPr/>
          <a:lstStyle/>
          <a:p>
            <a:pPr>
              <a:defRPr sz="3200" b="1">
                <a:solidFill>
                  <a:srgbClr val="2E5C8A"/>
                </a:solidFill>
              </a:defRPr>
            </a:pPr>
            <a:r>
              <a:rPr dirty="0"/>
              <a:t>De-risked against representative data at QFS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9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>
                <a:solidFill>
                  <a:srgbClr val="555555"/>
                </a:solidFill>
              </a:defRPr>
            </a:pPr>
            <a:r>
              <a:rPr dirty="0"/>
              <a:t>We built and ran the end-to-end system against synthetic operational data shaped and sized to match QFS's footprint — stores, orders, labor, inventory, promos, org chart, audits. Known ground truth — the system grades itself. No real QFS data touched yet.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774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Streaming 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180,000 events/sec per worker (~4 workers covers QFS peak)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Scenario query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&lt; 1 second, multi-region / multi-brand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Per-shard semantic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175–580 µs — 33–107× faster than exhaustive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Gap-analysis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4,600 gaps across 500 stores in 0.15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Semantic-search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≥ 99 % at default settings (measured, not projected)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BLAKE3 hash-chained, tamper-detectable per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Employee IDs hashed at ingest; automated PII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17165"/>
            <a:ext cx="10772775" cy="1658198"/>
          </a:xfrm>
        </p:spPr>
        <p:txBody>
          <a:bodyPr/>
          <a:lstStyle/>
          <a:p>
            <a:pPr>
              <a:defRPr sz="3200" b="1">
                <a:solidFill>
                  <a:srgbClr val="2E5C8A"/>
                </a:solidFill>
              </a:defRPr>
            </a:pPr>
            <a:r>
              <a:rPr dirty="0"/>
              <a:t>Four things dashboards don't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370932"/>
            <a:ext cx="6064541" cy="4636075"/>
          </a:xfrm>
        </p:spPr>
        <p:txBody>
          <a:bodyPr/>
          <a:lstStyle/>
          <a:p>
            <a:pPr>
              <a:defRPr sz="1700" b="0">
                <a:solidFill>
                  <a:srgbClr val="1E1E1E"/>
                </a:solidFill>
              </a:defRPr>
            </a:pPr>
            <a:r>
              <a:rPr dirty="0"/>
              <a:t>Counterfactual reasoning</a:t>
            </a:r>
          </a:p>
          <a:p>
            <a:pPr lvl="1">
              <a:defRPr sz="1500">
                <a:solidFill>
                  <a:srgbClr val="1E1E1E"/>
                </a:solidFill>
              </a:defRPr>
            </a:pPr>
            <a:r>
              <a:rPr dirty="0"/>
              <a:t>Ask "if X, then Y" across geography × time × brand × franchisee. Simulated through a causal graph, returned with confidence bands not a brittle point estimate.</a:t>
            </a:r>
          </a:p>
          <a:p>
            <a:pPr>
              <a:defRPr sz="1700" b="0">
                <a:solidFill>
                  <a:srgbClr val="1E1E1E"/>
                </a:solidFill>
              </a:defRPr>
            </a:pPr>
            <a:r>
              <a:rPr dirty="0"/>
              <a:t>Cryptographic provenance</a:t>
            </a:r>
          </a:p>
          <a:p>
            <a:pPr lvl="1">
              <a:defRPr sz="1500">
                <a:solidFill>
                  <a:srgbClr val="1E1E1E"/>
                </a:solidFill>
              </a:defRPr>
            </a:pPr>
            <a:r>
              <a:rPr dirty="0"/>
              <a:t>Every data point, analytical step, and decision surface carries a hash-chained audit entry. Blockchain-level integrity guarantees without operating a consensus network.</a:t>
            </a:r>
          </a:p>
          <a:p>
            <a:pPr>
              <a:defRPr sz="1700" b="0">
                <a:solidFill>
                  <a:srgbClr val="1E1E1E"/>
                </a:solidFill>
              </a:defRPr>
            </a:pPr>
            <a:r>
              <a:rPr dirty="0"/>
              <a:t>Governance as code</a:t>
            </a:r>
          </a:p>
          <a:p>
            <a:pPr lvl="1">
              <a:defRPr sz="1500">
                <a:solidFill>
                  <a:srgbClr val="1E1E1E"/>
                </a:solidFill>
              </a:defRPr>
            </a:pPr>
            <a:r>
              <a:rPr dirty="0"/>
              <a:t>SOX boundaries, franchisee data-sharing rules, and PII regimes (GDPR / PIPEDA / CCPA / LGPD) enforced at write-time. Violations blocked before they land.</a:t>
            </a:r>
          </a:p>
          <a:p>
            <a:pPr>
              <a:defRPr sz="1700" b="0">
                <a:solidFill>
                  <a:srgbClr val="1E1E1E"/>
                </a:solidFill>
              </a:defRPr>
            </a:pPr>
            <a:r>
              <a:rPr dirty="0"/>
              <a:t>Programmable substrate</a:t>
            </a:r>
          </a:p>
          <a:p>
            <a:pPr lvl="1">
              <a:defRPr sz="1500">
                <a:solidFill>
                  <a:srgbClr val="1E1E1E"/>
                </a:solidFill>
              </a:defRPr>
            </a:pPr>
            <a:r>
              <a:rPr dirty="0"/>
              <a:t>Extensible to cryptographic multi-party workflows: franchisee settlement, supply-chain attestation, programmable revenue splits. Adjacent capabilities beyond initial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0134" y="6400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555555"/>
                </a:solidFill>
              </a:defRPr>
            </a:pPr>
            <a:r>
              <a:rPr dirty="0" err="1"/>
              <a:t>WeftOS</a:t>
            </a:r>
            <a:r>
              <a:rPr dirty="0"/>
              <a:t> does not replace the data lake. The lake stays authoritative for transactions; </a:t>
            </a:r>
            <a:r>
              <a:rPr dirty="0" err="1"/>
              <a:t>WeftOS</a:t>
            </a:r>
            <a:r>
              <a:rPr dirty="0"/>
              <a:t> holds the reasoning layer above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33D48-C81D-8633-8DA9-56409BA28C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12" b="2818"/>
          <a:stretch>
            <a:fillRect/>
          </a:stretch>
        </p:blipFill>
        <p:spPr>
          <a:xfrm>
            <a:off x="7879190" y="160418"/>
            <a:ext cx="4069425" cy="6022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38996"/>
            <a:ext cx="10772775" cy="1658198"/>
          </a:xfrm>
        </p:spPr>
        <p:txBody>
          <a:bodyPr/>
          <a:lstStyle/>
          <a:p>
            <a:pPr>
              <a:defRPr sz="3200" b="1">
                <a:solidFill>
                  <a:srgbClr val="2E5C8A"/>
                </a:solidFill>
              </a:defRPr>
            </a:pPr>
            <a:r>
              <a:rPr dirty="0"/>
              <a:t>Fits on a commodity server. Scales by adding more.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Total storage, 5-year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~5 GB across ~192 logical shards; hot/warm/cold tiering automatic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HNSW index memory (~20M semantic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~4–6 GB resident; per-query working set ~1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Scenario query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&lt; 1 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Per-shard index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&lt; 30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Full cold-start build (sharded, parallel)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&lt; 1 minute wall-clock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Recommended production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Dual-socket server, 64 GB RAM, 1 TB NVMe (overprovisioned). One warm replica.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Specialised hardware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None. No GPU dependency. No accelerators.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2E5C8A"/>
                </a:solidFill>
              </a:defRPr>
            </a:pPr>
            <a:r>
              <a:t>Not a datacenter conversation. A two-rack-unit conversation.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5C8A"/>
                </a:solidFill>
              </a:defRPr>
            </a:pPr>
            <a:r>
              <a:t>13 weeks from kick-off to production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>
                <a:solidFill>
                  <a:srgbClr val="555555"/>
                </a:solidFill>
              </a:defRPr>
            </a:pPr>
            <a:r>
              <a:t>Specification, ingest, scenario engine, gap analysis, hardening, audit, and privacy are already built and measured end-to-end on synthetic data. The hardest technical risks are behind us.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94560"/>
          <a:ext cx="11247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lands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Data-lake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Streaming read from QFS's lake; operational dashboards on real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Historical replay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4–6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One year of QFS history imported into staged shards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7–9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Causal edge weights tuned against QFS's observed 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Scenario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10–11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VP-nominated headline scenario passes accuracy threshold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Production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12–13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Dashboards, audit stream, runbook handover to QFS 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E1E1E"/>
                </a:solidFill>
              </a:defRPr>
            </a:pPr>
            <a:r>
              <a:t>Team: 2–3 engineers from us (full-time), one data-lake owner from QFS (part-time).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029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1E1E1E"/>
                </a:solidFill>
              </a:defRPr>
            </a:pPr>
            <a:r>
              <a:t>Needed to start:  (1) data-lake read access,  (2) any A/B or holdout history,  (3) legal sign-off on franchisee boundaries,  (4) a nominated first scenario — that becomes the acceptance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487</TotalTime>
  <Words>596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 Light</vt:lpstr>
      <vt:lpstr>Metropolitan</vt:lpstr>
      <vt:lpstr>Ask "what-if" of the whole enterprise</vt:lpstr>
      <vt:lpstr>De-risked against representative data at QFS scale</vt:lpstr>
      <vt:lpstr>Four things dashboards don't do</vt:lpstr>
      <vt:lpstr>Fits on a commodity server. Scales by adding more.</vt:lpstr>
      <vt:lpstr>13 weeks from kick-off to production handover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mathew beane</cp:lastModifiedBy>
  <cp:revision>2</cp:revision>
  <dcterms:created xsi:type="dcterms:W3CDTF">2013-01-27T09:14:16Z</dcterms:created>
  <dcterms:modified xsi:type="dcterms:W3CDTF">2026-04-22T03:32:48Z</dcterms:modified>
  <cp:category/>
</cp:coreProperties>
</file>